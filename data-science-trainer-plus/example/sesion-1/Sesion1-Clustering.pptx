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00B0C8"/>
                </a:solidFill>
              </a:rPr>
              <a:t>MÁSTER EN CIENCIA DE DATOS · MÓDULO CLUSTERING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Clustering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0C8"/>
                </a:solidFill>
              </a:rPr>
              <a:t>Fundamentos · K-Means · K-Medoids · Clustering Jerárquico · DBSCAN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2B48"/>
          </a:solidFill>
          <a:ln w="12700">
            <a:solidFill>
              <a:srgbClr val="152B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FD4"/>
                </a:solidFill>
              </a:rPr>
              <a:t>Sesión 1  ·  Ingeniería y Programación  ·  Python + Jupyter Notebooks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1 (5 horas)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777240" cy="749808"/>
          </a:xfrm>
          <a:prstGeom prst="rect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</a:rPr>
              <a:t>1.1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0789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Fundamentos y Métricas de Distancia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1170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55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01952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01952"/>
            <a:ext cx="777240" cy="749808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1168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1.2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197510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K-Means y K-Medoids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2066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110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98064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98064"/>
            <a:ext cx="64008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98064"/>
            <a:ext cx="777240" cy="749808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0779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1FA2"/>
                </a:solidFill>
              </a:rPr>
              <a:t>1.3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287121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Clustering Jerárquico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2962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65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9417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94176"/>
            <a:ext cx="64008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94176"/>
            <a:ext cx="777240" cy="749808"/>
          </a:xfrm>
          <a:prstGeom prst="rect">
            <a:avLst/>
          </a:prstGeom>
          <a:solidFill>
            <a:srgbClr val="E65100">
              <a:alpha val="12000"/>
            </a:srgbClr>
          </a:solidFill>
          <a:ln w="12700">
            <a:solidFill>
              <a:srgbClr val="E65100">
                <a:alpha val="1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0390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</a:rPr>
              <a:t>1.4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37673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DBSCAN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3858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60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Total: 5 horas · Incluye pausas y prácticas en Jupyter Notebook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BLOQUE 1.1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y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Distancia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⏱  55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Clustering?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389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3474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7"/>
                </a:solidFill>
              </a:rPr>
              <a:t>Aprendizaje no supervisado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Objetivo: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agrupar datos sin etiquetas en conjuntos homogéneos.
</a:t>
            </a:r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Grupo =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puntos internamente similares y externamente distintos entre sí.
</a:t>
            </a:r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No hay 'respuesta correcta':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el clustering es una herramienta exploratoria.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960120"/>
            <a:ext cx="3749040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6636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Supervisado vs. No supervisado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17320"/>
          <a:ext cx="3749040" cy="118872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28016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Supervisado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 supervisado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Etiquetas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✅ Sí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❌ 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Objetivo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Predecir 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Descubrir grupos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Evaluación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Acc / F1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Silhouette / DBI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Ejemplo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Regresión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Clustering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2920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5 paradigmas de clustering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3063240"/>
            <a:ext cx="3749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30998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Basado en centroides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69480" y="3099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K-Means, K-Medoids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0" y="3410712"/>
            <a:ext cx="3749040" cy="301752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34472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Jerárquico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69480" y="3447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Ward, Complete, Single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0" y="3758184"/>
            <a:ext cx="3749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947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Basado en densidad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269480" y="37947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DBSCAN, HDBSCAN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29200" y="4105656"/>
            <a:ext cx="3749040" cy="301752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41422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Distribucional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269480" y="41422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GMM (EM)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29200" y="4453128"/>
            <a:ext cx="3749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20640" y="44897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Basado en redes/mapas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269480" y="44897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Kohonen SOM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Distancia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4754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Euclidiana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" y="1572768"/>
            <a:ext cx="2523744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910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d(x,y) = √Σᵢ(xᵢ−yᵢ)²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Usar cuando: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Variables continuas, mismo rango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Limitación: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Sensible a escala y outliers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9601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60120"/>
            <a:ext cx="274320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005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Manhattan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55848" y="1572768"/>
            <a:ext cx="2523744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5910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d(x,y) = Σᵢ|xᵢ−yᵢ|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Usar cuando: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Datos con outliers, alta dimensión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Limitación: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Menos sensible a escala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9601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960120"/>
            <a:ext cx="2743200" cy="47548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005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Coseno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81928" y="1572768"/>
            <a:ext cx="2523744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5910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cos(x,y) = x·y / (‖x‖·‖y‖)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A2"/>
                </a:solidFill>
              </a:rPr>
              <a:t>Usar cuando: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Texto, vectores dispersos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Limitación: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No considera magnitud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800"/>
                </a:solidFill>
              </a:rPr>
              <a:t>⚠️  Siempre estandarizar (StandardScaler) antes de usar distancia euclidiana o Manhattan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Maldición de la Dimensionalidad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3474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51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¿Qué ocurre en alta dimensión?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399032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distancias entre todos los puntos convergen hacia el mismo valor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del espacio crece exponencialmente: necesitas exponencialmente más datos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vecinos cercanos dejan de ser significativamente más cercanos que los lejanos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concentran en las aristas del hipercubo, no en el interior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64008" cy="14630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Regla práctica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3990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dimensiones necesitas ~10ⁿ puntos para una densidad razonable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 dims: 10¹⁰ datos. Con 100 dims: imposible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6032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560320"/>
            <a:ext cx="64008" cy="18745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651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7A7"/>
                </a:solidFill>
              </a:rPr>
              <a:t>Soluciones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999232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variables: eliminar features irrelevantes o redundantes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UMAP: reducir dimensionalidad antes de clustering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robustas: Coseno en lugar de Euclidiana para alta dimensión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Regularización: añadir restricciones al modelo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BLOQUE 1.2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y K-Medoids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⏱  110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Lloyd — K-Means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033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Inicializar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36245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Elegir k centroides aleatoriamente (o con K-Means++)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64008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Asignar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32257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Cada punto x va al centroide más cercano: cₖ = argmin ||x − μₖ||²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80360"/>
            <a:ext cx="64008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953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Actualizar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28269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Recalcular cada centroide como media de sus puntos asignados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40480"/>
            <a:ext cx="64008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3913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Repetir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24281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Volver al paso 2 hasta convergencia (criterio: WCSS no decrece)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solidFill>
            <a:srgbClr val="E3F2FD"/>
          </a:solidFill>
          <a:ln w="12700">
            <a:solidFill>
              <a:srgbClr val="00B0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</a:rPr>
              <a:t>Objetivo: minimizar WCSS = Sum_k Sum_{x in C_k} ||x - u_k||^2   ·   Complejidad: O(n · k · iter · 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K-Means++: Inicialización Inteligente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22860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51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Problema con inicialización aleatoria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399032"/>
            <a:ext cx="3931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puede converger a mínimos locales dependiendo de la semilla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muy variable entre ejecuciones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30 ejecuciones independientes, hasta 40% más de WCSS en el peor caso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383280"/>
            <a:ext cx="64008" cy="1554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474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7A7"/>
                </a:solidFill>
              </a:rPr>
              <a:t>K-Means++ (Arthur &amp; Vassilvitskii, 2007)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82219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Elegir el primer centroide aleatoriamente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Cada siguiente centroide se elige con prob. proporcional a d(x, centroide más cercano)²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Resultado: centroides inicialmente dispersos → convergencia más rápida y estable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3977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60120"/>
            <a:ext cx="64008" cy="3977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En scikit-learn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1399032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KMeans(n_clusters=k, init='k-means++')  ← default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KMeans(n_clusters=k, n_init=10)  ← 10 inits, mejor WCSS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KMeans(n_clusters=k, random_state=42)  ← reproducibilidad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alternativos: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init='random'  → sin K-Means++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init=array   → centroides manuales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K-Medoids: Robustez ante Outliers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47472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K-Means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K-Medoids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Representante del cluster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Centroide (punto virtual)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Medoide (dato real)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Función objetivo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Minimiza WCSS (Euclidiana)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Minimiza disimilaridades totales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Tolerancia a outliers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❌ Baja — centroide se desplaza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✅ Alta — medoide es dato real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Métricas admitidas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Solo Euclidiana en sklearn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Cualquier métrica (Manhtn, Coseno…)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Coste computacional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O(n·k·iter) — muy rápido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O(n²·k·iter) — más lento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Variantes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MiniBatchKMeans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PAM · CLARA · CLARANS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Librería Python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sklearn.cluster.KMeans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sklearn_extra.cluster.KMedoids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💡 Usa K-Medoids cuando tus datos tengan outliers o necesites interpretabilidad (el representante es un cliente/producto real)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k: Elbow Method + Silhouette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3566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51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Elbow Method (codo de la curva WCSS)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399032"/>
            <a:ext cx="3931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K-Means para k = 2, 3, ..., 10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WCSS para cada 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el 'codo': punto donde la reducción marginal de WCSS cae bruscamente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k es el candidato óptimo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el codo puede ser ambiguo — combinar con Silhouette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64008" cy="1645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7A7"/>
                </a:solidFill>
              </a:rPr>
              <a:t>Silhouette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1399032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= (b(i) − a(i)) / max(a(i), b(i))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a(i): distancia media dentro del cluster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b(i): distancia media al cluster más cercano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[−1, 1]. Óptimo: cercano a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74320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2743200"/>
            <a:ext cx="6400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Código Python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3182112"/>
            <a:ext cx="3703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sklearn.metrics import silhouette_score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inertias = []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 in range(2, 11):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km = KMeans(n_clusters=k, n_init=10)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inertias.append(km.fit(X).inertia_)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A1B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BLOQUE 1.3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Jerárquico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⏱  65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Jerárquico: Bottom-Up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846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34747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</a:rPr>
              <a:t>Algoritmo aglomerativo (bottom-up)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</a:rPr>
              <a:t>Cada punto comienza como su propio cluster (n clusters)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</a:rPr>
              <a:t>Calcular la distancia entre todos los pares de clusters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</a:rPr>
              <a:t>Fusionar los dos clusters más cercanos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</a:rPr>
              <a:t>Actualizar la matriz de distancias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</a:rPr>
              <a:t>Repetir hasta tener 1 cluster (o hasta criterio de parada)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2E"/>
                </a:solidFill>
              </a:rPr>
              <a:t>El dendrograma registra todo el historial de fusiones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32120" y="1033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Single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13258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Distancia mínima entre clusters. Crea cadenas largas.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810512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1883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Complete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21762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Distancia máxima. Clusters compactos y esféricos.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660904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2734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</a:rPr>
              <a:t>Average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30266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Distancia media. Compromiso entre single y complete.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3511296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</a:rPr>
              <a:t>Ward 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8770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Minimiza incremento de varianza total. Más robusto y recomendado.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4498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55A64"/>
                </a:solidFill>
              </a:rPr>
              <a:t>Criterios de enlace (linkage)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Dendrograma: Leer e Interpretar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35204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51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1FA2"/>
                </a:solidFill>
              </a:rPr>
              <a:t>¿Cómo leer un dendrograma?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399032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Y: distancia (o disimilaridad) a la que ocurre cada fusión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X: instancias individuales (hojas del árbol)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fusión alta = clusters muy distintos entre sí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elegir k: cortar con una línea horizontal en el 'mayor salto' vertical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líneas cortadas = número de clusters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64008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051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Código Python (scipy)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39903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scipy.cluster.hierarchy import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dendrogram, linkage, fcluster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linkage(X, method='ward')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= fcluster(Z, t=4,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criterion='maxclust') - 1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743200"/>
            <a:ext cx="64008" cy="1737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834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7A7"/>
                </a:solidFill>
              </a:rPr>
              <a:t>Cuándo usar clustering jerárquico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3182112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conoces el k óptimo de antemano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Quieres explorar estructura a múltiples escalas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dendrograma en sí es el resultado valioso (ej. taxonomías, genómica)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pequeños/medianos (&lt; 10.000 puntos con Ward)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F3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BLOQUE 1.4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Spatial Clustering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⏱  60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Puntos, Densidad y Ruido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65C0"/>
                </a:solidFill>
              </a:rPr>
              <a:t>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Punto núcleo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Tiene ≥ MinPts puntos dentro de radio ε (incluyéndose a sí mismo)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2860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7A7"/>
                </a:solidFill>
              </a:rPr>
              <a:t>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</a:rPr>
              <a:t>Punto borde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65176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Está dentro de ε de un núcleo, pero tiene &lt; MinPts vecinos propios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204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✕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88720" y="35204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</a:rPr>
              <a:t>Ruido (outlier)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8862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No es núcleo ni está dentro de ε de ningún núcleo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96012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960120"/>
            <a:ext cx="2834640" cy="41148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Parámetros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146304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ε (epsilon)
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Radio de vecindad. Un ε muy pequeño → casi todo es ruido. Un ε muy grande → un solo cluster
</a:t>
            </a:r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MinPts
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Mínimo de puntos para ser núcleo. Regla práctica: MinPts ≥ 2·dims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Cómo calibrar: k-distance graph (k = MinPts−1)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</a:rPr>
              <a:t>✅ DBSCAN descubre el número de clusters automáticamente y etiqueta outliers como ruido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vs K-Means: ¿Cuándo usar cada uno?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56616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K-Means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DBSCAN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Forma de clusters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Convexos / esféricos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Arbitraria (cóncavos, irregulares)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Nº de clusters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Fijado por el usuario (k)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Automático (determinado por ε, MinPts)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Outliers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Asignados al cluster más cercano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Clasificados como ruido (-1)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Sensibilidad a escala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Alta — requiere normalización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Alta — ε depende de la escala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Complejidad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O(n·k·iter)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O(n log n) con índice espacial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Parámetros a calibrar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ε y MinPts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Mejor para...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Datos limpios con forma regular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Anomalías, formas irregulares, geoespacial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55A64"/>
                </a:solidFill>
              </a:rPr>
              <a:t>💡 En la práctica: prueba ambos y compara Silhouette + interpretación de negocio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Sesión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804672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0C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99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0C8"/>
                </a:solidFill>
              </a:rPr>
              <a:t>1.1 Distancias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3990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Euclidiana · Manhattan · Coseno · Siempre escalar primero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804672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0C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848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0C8"/>
                </a:solidFill>
              </a:rPr>
              <a:t>1.2 K-Means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0848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Lloyd + K-Means++ · Elbow method para k · Rápido y escalable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804672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0C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706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0C8"/>
                </a:solidFill>
              </a:rPr>
              <a:t>1.2 K-Medoids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7706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Medoides = datos reales · Robusto a outliers · Más costoso que K-Means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804672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0C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564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0C8"/>
                </a:solidFill>
              </a:rPr>
              <a:t>1.3 Jerárquico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4564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Dendrograma · Ward recomendado · Corte = k clusters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804672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0C8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42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0C8"/>
                </a:solidFill>
              </a:rPr>
              <a:t>1.4 DBSCAN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41422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Núcleo/Borde/Ruido · k-distance para ε · Formas arbitrarias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B0C8"/>
                </a:solidFill>
              </a:rPr>
              <a:t>Sesión 2: GMM · SOM · Métricas · Reducción de dimensionalidad · Proyecto integrador 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Sesión 1</dc:title>
  <dc:subject>PptxGenJS Presentation</dc:subject>
  <dc:creator>Máster Ciencia de Datos</dc:creator>
  <cp:lastModifiedBy>Máster Ciencia de Datos</cp:lastModifiedBy>
  <cp:revision>1</cp:revision>
  <dcterms:created xsi:type="dcterms:W3CDTF">2026-02-26T13:42:10Z</dcterms:created>
  <dcterms:modified xsi:type="dcterms:W3CDTF">2026-02-26T13:42:10Z</dcterms:modified>
</cp:coreProperties>
</file>