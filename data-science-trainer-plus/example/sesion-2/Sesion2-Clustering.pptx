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00B0C8"/>
                </a:solidFill>
              </a:rPr>
              <a:t>MÁSTER EN CIENCIA DE DATOS · MÓDULO CLUSTERING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de Clustering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B0C8"/>
                </a:solidFill>
              </a:rPr>
              <a:t>GMM · SOM · Métricas de Evaluación · Reducción Dimensionalidad · Proyecto Integrador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2B48"/>
          </a:solidFill>
          <a:ln w="12700">
            <a:solidFill>
              <a:srgbClr val="152B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73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BAFD4"/>
                </a:solidFill>
              </a:rPr>
              <a:t>Sesión 2  ·  Ingeniería y Programación  ·  Python + Jupyter Notebooks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Sesión 2 (5 horas)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14400"/>
            <a:ext cx="64008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658368" cy="566928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>
                <a:alpha val="1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6926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2.1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61872" y="10058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Modelos de Mezcla Gaussiana (GMM + EM)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98080" y="10332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55A64"/>
                </a:solidFill>
              </a:rPr>
              <a:t>70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572768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572768"/>
            <a:ext cx="64008" cy="56692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72768"/>
            <a:ext cx="658368" cy="566928"/>
          </a:xfrm>
          <a:prstGeom prst="rect">
            <a:avLst/>
          </a:prstGeom>
          <a:solidFill>
            <a:srgbClr val="7B1FA2">
              <a:alpha val="12000"/>
            </a:srgbClr>
          </a:solidFill>
          <a:ln w="12700">
            <a:solidFill>
              <a:srgbClr val="7B1FA2">
                <a:alpha val="1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62763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1FA2"/>
                </a:solidFill>
              </a:rPr>
              <a:t>2.2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61872" y="166420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Mapas Auto-organizados de Kohonen (SOM)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498080" y="16916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55A64"/>
                </a:solidFill>
              </a:rPr>
              <a:t>60 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231136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231136"/>
            <a:ext cx="64008" cy="56692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231136"/>
            <a:ext cx="658368" cy="566928"/>
          </a:xfrm>
          <a:prstGeom prst="rect">
            <a:avLst/>
          </a:prstGeom>
          <a:solidFill>
            <a:srgbClr val="0097A7">
              <a:alpha val="12000"/>
            </a:srgbClr>
          </a:solidFill>
          <a:ln w="12700">
            <a:solidFill>
              <a:srgbClr val="0097A7">
                <a:alpha val="1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2860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7A7"/>
                </a:solidFill>
              </a:rPr>
              <a:t>2.3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61872" y="232257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Métricas de Evaluación de Clustering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98080" y="23500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55A64"/>
                </a:solidFill>
              </a:rPr>
              <a:t>65 min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889504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889504"/>
            <a:ext cx="64008" cy="5669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889504"/>
            <a:ext cx="658368" cy="566928"/>
          </a:xfrm>
          <a:prstGeom prst="rect">
            <a:avLst/>
          </a:prstGeom>
          <a:solidFill>
            <a:srgbClr val="E65100">
              <a:alpha val="12000"/>
            </a:srgbClr>
          </a:solidFill>
          <a:ln w="12700">
            <a:solidFill>
              <a:srgbClr val="E65100">
                <a:alpha val="1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944368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2.4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61872" y="2980944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Reducción de Dimensionalidad para Clustering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498080" y="300837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55A64"/>
                </a:solidFill>
              </a:rPr>
              <a:t>35 min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547872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547872"/>
            <a:ext cx="64008" cy="5669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547872"/>
            <a:ext cx="658368" cy="566928"/>
          </a:xfrm>
          <a:prstGeom prst="rect">
            <a:avLst/>
          </a:prstGeom>
          <a:solidFill>
            <a:srgbClr val="2E7D32">
              <a:alpha val="12000"/>
            </a:srgbClr>
          </a:solidFill>
          <a:ln w="12700">
            <a:solidFill>
              <a:srgbClr val="2E7D32">
                <a:alpha val="1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602736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2.5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61872" y="363931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Proyecto Integrador: Segmentación de Clientes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498080" y="36667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55A64"/>
                </a:solidFill>
              </a:rPr>
              <a:t>55 min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20624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4206240"/>
            <a:ext cx="64008" cy="56692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206240"/>
            <a:ext cx="658368" cy="566928"/>
          </a:xfrm>
          <a:prstGeom prst="rect">
            <a:avLst/>
          </a:prstGeom>
          <a:solidFill>
            <a:srgbClr val="546E7A">
              <a:alpha val="12000"/>
            </a:srgbClr>
          </a:solidFill>
          <a:ln w="12700">
            <a:solidFill>
              <a:srgbClr val="546E7A">
                <a:alpha val="12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26110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46E7A"/>
                </a:solidFill>
              </a:rPr>
              <a:t>2.6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261872" y="4297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Buenas Prácticas y Cierre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498080" y="43251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55A64"/>
                </a:solidFill>
              </a:rPr>
              <a:t>15 min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058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05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BLOQUE 2.1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Mezcla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Gaussiana (GMM + EM)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97280" y="3474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B0C8"/>
                </a:solidFill>
              </a:rPr>
              <a:t>⏱  70 minutos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Mezcla Gaussiana — El Modelo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E8EAF6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332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35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p(x) = Σₖ πₖ · 𝒩(x | μₖ, Σₖ)     donde  Σₖ πₖ = 1  y  πₖ ≥ 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28800"/>
            <a:ext cx="265176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πₖ  Peso de mezcla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304288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Probabilidad a priori de pertenecer al componente 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8288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828800"/>
            <a:ext cx="265176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μₖ  Media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2304288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Centro del componente k en el espacio de features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8288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828800"/>
            <a:ext cx="265176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Σₖ  Covarianza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44768" y="2304288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Forma y orientación del elipsoide del componente 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56432"/>
            <a:ext cx="4114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456432"/>
            <a:ext cx="64008" cy="102412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5387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</a:rPr>
              <a:t>Asignación dura (K-Means)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8404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Cada punto → un único cluster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Label = argmax posterior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456432"/>
            <a:ext cx="4114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456432"/>
            <a:ext cx="64008" cy="10241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5387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Asignación suave (GMM)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8404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Cada punto → vector de probabilidades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r(i,k) = P(componente k | xᵢ)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EM — Expectation-Maximization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731520" cy="11704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3444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</a:rPr>
              <a:t>E-Step: Expectation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380744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Calcular las responsabilidades r(i,k): probabilidad de que el punto xᵢ pertenezca al componente k dado los parámetros actuales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r(i,k) = πₖ · 𝒩(xᵢ|μₖ,Σₖ) / Σⱼ πⱼ · 𝒩(xᵢ|μⱼ,Σⱼ)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258568"/>
            <a:ext cx="8412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58568"/>
            <a:ext cx="731520" cy="1170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95728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234440" y="2350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M-Step: Maximization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2679192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Actualizar parámetros usando las responsabilidades como pesos: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• Nₖ = Σᵢ r(i,k)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• μₖ = (1/Nₖ) Σᵢ r(i,k)·xᵢ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• Σₖ = (1/Nₖ) Σᵢ r(i,k)·(xᵢ−μₖ)(xᵢ−μₖ)ᵀ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• πₖ = Nₖ / 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557016"/>
            <a:ext cx="8412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557016"/>
            <a:ext cx="731520" cy="117043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694176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↻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234440" y="364845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6E7A"/>
                </a:solidFill>
              </a:rPr>
              <a:t>Convergencia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97764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Repetir E y M hasta que la log-verosimilitud log p(X|θ) no aumente más allá de un umbral tol (default: 1e-3 en sklearn).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Garante de convergencia: EM nunca reduce la verosimilitud.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645152"/>
            <a:ext cx="8412480" cy="292608"/>
          </a:xfrm>
          <a:prstGeom prst="rect">
            <a:avLst/>
          </a:prstGeom>
          <a:solidFill>
            <a:srgbClr val="E3F2FD"/>
          </a:solidFill>
          <a:ln w="12700">
            <a:solidFill>
              <a:srgbClr val="00B0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BIC = −2·log(L) + k·log(n)   |   AIC = −2·log(L) + 2k   →   Menor = mejor → usar para elegir nº componentes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GMM: Tipos de Covarianza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16052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149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covariance_type='full'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97A7"/>
                </a:solidFill>
              </a:rPr>
              <a:t>◯ ↗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14630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Elipsoides con orientación libre. Más flexible, más parámetros. Puede sobreajustar.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416052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149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covariance_type='tied'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46304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97A7"/>
                </a:solidFill>
              </a:rPr>
              <a:t>◯ ◯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577840" y="14630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Todos los componentes comparten la misma covarianza. Forma idéntica, posición diferente.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788920"/>
            <a:ext cx="416052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437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covariance_type='diag'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29184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97A7"/>
                </a:solidFill>
              </a:rPr>
              <a:t>○ 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3291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Ejes alineados con los ejes de coordenadas. Sin correlación entre features.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78892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788920"/>
            <a:ext cx="416052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8437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covariance_type='spherical'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29184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97A7"/>
                </a:solidFill>
              </a:rPr>
              <a:t>⊙ ⊙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577840" y="3291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Todos los clusters son esféricos (varianza única). Caso más restrictivo. Similar a K-Means.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645152"/>
            <a:ext cx="8412480" cy="292608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5800"/>
                </a:solidFill>
              </a:rPr>
              <a:t>💡 Regla práctica: empezar con 'full'. Si sobreajusta o hay pocos datos, probar 'diag' o 'spherical'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14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058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05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BLOQUE 2.2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Auto-organizados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Kohonen (SOM)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97280" y="3474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B0C8"/>
                </a:solidFill>
              </a:rPr>
              <a:t>⏱  60 minutos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SOM: Arquitectura y Principios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297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64008" cy="352044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515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B1FA2"/>
                </a:solidFill>
              </a:rPr>
              <a:t>Arquitectura del SOM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417320"/>
            <a:ext cx="402336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Rejilla 2D de neuronas (m₁ × m₂), cada una con un vector de pesos wᵢⱼ ∈ ℝᵈ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neurona aprende a representar una región del espacio de entrada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Neuronas vecinas representan regiones similares → preservación topológica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clave: tamaño de mapa, sigma (radio vecindad), learning_rate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Entrenamiento: iterativo sobre los datos de entrada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60120"/>
            <a:ext cx="502920" cy="74980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5156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68112" y="10149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Presentar dato 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68112" y="13075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Seleccionar un dato del dataset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828800"/>
            <a:ext cx="3931920" cy="749808"/>
          </a:xfrm>
          <a:prstGeom prst="rect">
            <a:avLst/>
          </a:prstGeom>
          <a:solidFill>
            <a:srgbClr val="EEF2F7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828800"/>
            <a:ext cx="502920" cy="74980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92024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68112" y="18836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Encontrar BMU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68112" y="21762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Best Matching Unit = neurona más cercana a x: argmin ||x − wᵢⱼ||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697480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697480"/>
            <a:ext cx="502920" cy="74980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78892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68112" y="27523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Actualizar vecindad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68112" y="30449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Mover BMU y vecinos hacia x, con función gaussiana h(r,t) = exp(−||r||²/2σ(t)²)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566160"/>
            <a:ext cx="3931920" cy="749808"/>
          </a:xfrm>
          <a:prstGeom prst="rect">
            <a:avLst/>
          </a:prstGeom>
          <a:solidFill>
            <a:srgbClr val="EEF2F7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566160"/>
            <a:ext cx="502920" cy="74980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65760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68112" y="36210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Repetir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68112" y="39136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σ y lr decrecen con el tiempo → convergencia a representación estable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44622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Actualización de pesos: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4663440"/>
            <a:ext cx="3931920" cy="292608"/>
          </a:xfrm>
          <a:prstGeom prst="rect">
            <a:avLst/>
          </a:prstGeom>
          <a:solidFill>
            <a:srgbClr val="EEF2F7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4681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wᵢⱼ(t+1) = wᵢⱼ(t) + lr(t) · h(rᵢⱼ, t) · (x − wᵢⱼ(t))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SOM: U-Matrix y Component Planes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206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64008" cy="201168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515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B1FA2"/>
                </a:solidFill>
              </a:rPr>
              <a:t>U-Matrix (Unified Distance Matrix)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417320"/>
            <a:ext cx="39319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celda muestra la distancia media al peso de sus neuronas vecinas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oscuras = fronteras entre clusters (alta disimilaridad)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claras = interior de clusters (neuronas similares entre sí)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identificar k sin fijar k a priori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06324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3063240"/>
            <a:ext cx="64008" cy="1874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1546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Código Python (minisom)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3520440"/>
            <a:ext cx="39319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minisom import MiniSom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= MiniSom(m1, m2, n_features,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sigma=2.5, learning_rate=0.5,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neighborhood_function='gaussian')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som.pca_weights_init(X)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som.train(X, num_iteration=5000)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umatrix = som.distance_map()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4023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960120"/>
            <a:ext cx="64008" cy="20116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0515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97A7"/>
                </a:solidFill>
              </a:rPr>
              <a:t>Component Planes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19472" y="1417320"/>
            <a:ext cx="374904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plano por cada variable (feature) del dataset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cómo se distribuye cada variable en el mapa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interpretar qué variables definen cada región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Combinado con U-Matrix: herramienta potente de perfilado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40233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063240"/>
            <a:ext cx="64008" cy="18745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31546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SOM vs. otros algoritmos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9472" y="3520440"/>
            <a:ext cx="3749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K-Means: preserva topología del espacio de entrada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t-SNE: es un modelo entrenado (puede predecir nuevos puntos)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PCA: no lineal, captura estructuras curvas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Limitación: el tamaño del mapa m₁×m₂ hay que fijarlo manualmente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60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058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05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BLOQUE 2.3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Evaluación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Clustering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97280" y="3474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B0C8"/>
                </a:solidFill>
              </a:rPr>
              <a:t>⏱  65 minutos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Internas (sin etiquetas de referencia)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64008" cy="11704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332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</a:rPr>
              <a:t>Silhouette Score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10332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55A64"/>
                </a:solidFill>
              </a:rPr>
              <a:t>Rango: [−1, 1]  ↑ max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5029200" cy="329184"/>
          </a:xfrm>
          <a:prstGeom prst="rect">
            <a:avLst/>
          </a:prstGeom>
          <a:solidFill>
            <a:srgbClr val="EEF2F7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173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s(i) = (b(i) − a(i)) / max(a(i), b(i))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139903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Clusters convexos bien separados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258568"/>
            <a:ext cx="8412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58568"/>
            <a:ext cx="64008" cy="1170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331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Davies-Bouldin Index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2331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55A64"/>
                </a:solidFill>
              </a:rPr>
              <a:t>Rango: [0, ∞)  ↓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697480"/>
            <a:ext cx="5029200" cy="329184"/>
          </a:xfrm>
          <a:prstGeom prst="rect">
            <a:avLst/>
          </a:prstGeom>
          <a:solidFill>
            <a:srgbClr val="EEF2F7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157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= (1/k) Σₖ max_{k'≠k} (σₖ + σₖ') / d(μₖ, μₖ')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26974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Sensible a clusters compactos y separados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557016"/>
            <a:ext cx="8412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57016"/>
            <a:ext cx="64008" cy="117043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301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1FA2"/>
                </a:solidFill>
              </a:rPr>
              <a:t>Calinski-Harabász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36301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55A64"/>
                </a:solidFill>
              </a:rPr>
              <a:t>Rango: [0, ∞)  ↑ max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995928"/>
            <a:ext cx="5029200" cy="329184"/>
          </a:xfrm>
          <a:prstGeom prst="rect">
            <a:avLst/>
          </a:prstGeom>
          <a:solidFill>
            <a:srgbClr val="EEF2F7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01421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 = [B/(k−1)] / [W/(n−k)]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39959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Rápido, favorece clusters convexos y densos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6817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5100"/>
                </a:solidFill>
              </a:rPr>
              <a:t>⚠️  Ninguna métrica es perfecta. Usa siempre al menos 2-3 métricas y el juicio de dominio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Externas (con etiquetas de referencia)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64008" cy="1920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515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Adjusted Rand Index (ARI)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417320"/>
            <a:ext cx="39319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similitud entre clustering obtenido y etiquetas reales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Rango: [−1, 1]. ARI = 1: coincidencia perfecta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≈ 0: asignación aleatoria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Ajustado por azar: ARI = (RI − E[RI]) / (max(RI) − E[RI])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97180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971800"/>
            <a:ext cx="64008" cy="19202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0632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97A7"/>
                </a:solidFill>
              </a:rPr>
              <a:t>Normalized Mutual Information (NMI)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3429000"/>
            <a:ext cx="39319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información compartida entre clustering y etiquetas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Rango: [0, 1]. NMI = 1: coincidencia perfecta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Normalizado respecto a entropía de cada partición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 = 2·I(Y;C) / (H(Y) + H(C))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960120"/>
            <a:ext cx="64008" cy="1920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0515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Cuándo usar métricas externas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19472" y="1417320"/>
            <a:ext cx="37490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cuando tienes etiquetas reales para validar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típico: en investigación o con datasets con ground truth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producción: raras veces disponibles → usar internas + negocio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 evaluar si el clustering 'recupera' la estructura real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97180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971800"/>
            <a:ext cx="64008" cy="1920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30632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Código Python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9472" y="3429000"/>
            <a:ext cx="37490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sklearn.metrics import (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adjusted_rand_score,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normalized_mutual_info_score)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= adjusted_rand_score(y_true, labels)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 = normalized_mutual_info_score(y_true, labels)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BF3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058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05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BLOQUE 2.4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Dimensionalidad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97280" y="3474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B0C8"/>
                </a:solidFill>
              </a:rPr>
              <a:t>⏱  35 minutos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Usos Distintos: No los Confundas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02336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02336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241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PCA → PREPROCESADO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572768"/>
            <a:ext cx="37856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Objetivo: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mejorar la calidad del clustering reduciendo ruido y multicolinealidad
</a:t>
            </a:r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Preserva: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varianza global de los datos (lineal)
</a:t>
            </a:r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Parámetro clave: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n_components (o % varianza a retener: 0.90)
</a:t>
            </a:r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Cuándo: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Siempre que tengas &gt; 10 features o alta correlación entre variables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02336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402336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241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t-SNE / UMAP → VISUALIZACIÓN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19472" y="1572768"/>
            <a:ext cx="37856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Objetivo: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proyectar resultados ya obtenidos a 2D para inspección visual
</a:t>
            </a:r>
            <a:pPr indent="0" marL="0">
              <a:buNone/>
            </a:pPr>
            <a:r>
              <a:rPr lang="en-US" sz="1150" b="1" dirty="0">
                <a:solidFill>
                  <a:srgbClr val="E53935"/>
                </a:solidFill>
              </a:rPr>
              <a:t>⚠️  NO preserva: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distancias globales entre clusters. ¡No interpretar como distancias reales!
</a:t>
            </a:r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Parámetro clave: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perplexity (t-SNE) / n_neighbors (UMAP)
</a:t>
            </a:r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Cuándo: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Solo para comunicar resultados, nunca como paso previo al clustering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07408" y="2724912"/>
            <a:ext cx="329184" cy="0"/>
          </a:xfrm>
          <a:prstGeom prst="line">
            <a:avLst/>
          </a:prstGeom>
          <a:noFill/>
          <a:ln w="25400">
            <a:solidFill>
              <a:srgbClr val="455A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0832" y="2514600"/>
            <a:ext cx="402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3935"/>
                </a:solidFill>
              </a:rPr>
              <a:t>≠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058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05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BLOQUE 2.5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de Clientes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97280" y="3474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B0C8"/>
                </a:solidFill>
              </a:rPr>
              <a:t>⏱  55 minutos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Proyecto: Framework RFM+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1115568" cy="749808"/>
          </a:xfrm>
          <a:prstGeom prst="roundRect">
            <a:avLst>
              <a:gd name="adj" fmla="val 7317"/>
            </a:avLst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1115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RAW DATA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435608" y="1380744"/>
            <a:ext cx="118872" cy="0"/>
          </a:xfrm>
          <a:prstGeom prst="line">
            <a:avLst/>
          </a:prstGeom>
          <a:noFill/>
          <a:ln w="19050">
            <a:solidFill>
              <a:srgbClr val="455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1005840"/>
            <a:ext cx="1115568" cy="749808"/>
          </a:xfrm>
          <a:prstGeom prst="roundRect">
            <a:avLst>
              <a:gd name="adj" fmla="val 731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1005840"/>
            <a:ext cx="1115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EDA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70048" y="1380744"/>
            <a:ext cx="118872" cy="0"/>
          </a:xfrm>
          <a:prstGeom prst="line">
            <a:avLst/>
          </a:prstGeom>
          <a:noFill/>
          <a:ln w="19050">
            <a:solidFill>
              <a:srgbClr val="455A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1005840"/>
            <a:ext cx="1115568" cy="749808"/>
          </a:xfrm>
          <a:prstGeom prst="roundRect">
            <a:avLst>
              <a:gd name="adj" fmla="val 7317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1005840"/>
            <a:ext cx="1115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RFM+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904488" y="1380744"/>
            <a:ext cx="118872" cy="0"/>
          </a:xfrm>
          <a:prstGeom prst="line">
            <a:avLst/>
          </a:prstGeom>
          <a:noFill/>
          <a:ln w="19050">
            <a:solidFill>
              <a:srgbClr val="455A6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1005840"/>
            <a:ext cx="1115568" cy="749808"/>
          </a:xfrm>
          <a:prstGeom prst="roundRect">
            <a:avLst>
              <a:gd name="adj" fmla="val 7317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1005840"/>
            <a:ext cx="1115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Escala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+ PCA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138928" y="1380744"/>
            <a:ext cx="118872" cy="0"/>
          </a:xfrm>
          <a:prstGeom prst="line">
            <a:avLst/>
          </a:prstGeom>
          <a:noFill/>
          <a:ln w="19050">
            <a:solidFill>
              <a:srgbClr val="455A6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57800" y="1005840"/>
            <a:ext cx="1115568" cy="749808"/>
          </a:xfrm>
          <a:prstGeom prst="roundRect">
            <a:avLst>
              <a:gd name="adj" fmla="val 731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1005840"/>
            <a:ext cx="1115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Clustering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+ Métricas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73368" y="1380744"/>
            <a:ext cx="118872" cy="0"/>
          </a:xfrm>
          <a:prstGeom prst="line">
            <a:avLst/>
          </a:prstGeom>
          <a:noFill/>
          <a:ln w="19050">
            <a:solidFill>
              <a:srgbClr val="455A6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1005840"/>
            <a:ext cx="1115568" cy="749808"/>
          </a:xfrm>
          <a:prstGeom prst="roundRect">
            <a:avLst>
              <a:gd name="adj" fmla="val 7317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005840"/>
            <a:ext cx="1115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Perfilado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607808" y="1380744"/>
            <a:ext cx="118872" cy="0"/>
          </a:xfrm>
          <a:prstGeom prst="line">
            <a:avLst/>
          </a:prstGeom>
          <a:noFill/>
          <a:ln w="19050">
            <a:solidFill>
              <a:srgbClr val="455A6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26680" y="1005840"/>
            <a:ext cx="1115568" cy="749808"/>
          </a:xfrm>
          <a:prstGeom prst="roundRect">
            <a:avLst>
              <a:gd name="adj" fmla="val 731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26680" y="1005840"/>
            <a:ext cx="1115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Acción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Marketing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920240"/>
          <a:ext cx="8503920" cy="1645920"/>
        </p:xfrm>
        <a:graphic>
          <a:graphicData uri="http://schemas.openxmlformats.org/drawingml/2006/table">
            <a:tbl>
              <a:tblPr/>
              <a:tblGrid>
                <a:gridCol w="2125980"/>
                <a:gridCol w="2125980"/>
                <a:gridCol w="2125980"/>
                <a:gridCol w="21259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Dimensión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Pregunta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Extensión (+)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Recency (R)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¿Cuándo compró por última vez?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Días desde última compra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Tasa de devolución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Frequency (F)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¿Cuántas veces ha comprado?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Nº transacciones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Categorías distintas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Monetary (M)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¿Cuánto dinero ha gastado?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Valor total (€)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Ticket medio (€)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320040" y="3749040"/>
            <a:ext cx="1609344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393192" y="38221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⭐ Champions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93192" y="42245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5A64"/>
                </a:solidFill>
              </a:rPr>
              <a:t>Alta R, F y M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039112" y="3749040"/>
            <a:ext cx="1609344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2112264" y="38221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💙 Leales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112264" y="42245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5A64"/>
                </a:solidFill>
              </a:rPr>
              <a:t>Regular · Medio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758184" y="3749040"/>
            <a:ext cx="1609344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3831336" y="38221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</a:rPr>
              <a:t>⚠️ En riesgo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3831336" y="42245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5A64"/>
                </a:solidFill>
              </a:rPr>
              <a:t>Antes activos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477256" y="3749040"/>
            <a:ext cx="1609344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78909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5550408" y="38221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8909C"/>
                </a:solidFill>
              </a:rPr>
              <a:t>💤 Hibernando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550408" y="42245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5A64"/>
                </a:solidFill>
              </a:rPr>
              <a:t>6-12 meses inac.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196328" y="3749040"/>
            <a:ext cx="1609344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5393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7269480" y="38221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</a:rPr>
              <a:t>🚫 Perdidos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7269480" y="42245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5A64"/>
                </a:solidFill>
              </a:rPr>
              <a:t>&gt; 12 meses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058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05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BLOQUE 2.6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Cierre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97280" y="3474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B0C8"/>
                </a:solidFill>
              </a:rPr>
              <a:t>⏱  15 minutos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Frecuentes — Checklist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251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25196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149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 Preprocesado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• NO escalar → distancias dominadas por la feature de mayor rango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• Imputar nulos con media → puede crear cluster espurio artificial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960120"/>
            <a:ext cx="4251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960120"/>
            <a:ext cx="425196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0149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 Algoritmo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• Elegir k sin métricas → k=3 'porque suena bien'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• Usar K-Means con clusters no convexos → resultados sin sentido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4251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743200"/>
            <a:ext cx="425196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79806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 Interpretación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246120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• Clusters sin nombre de negocio → inaccionables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794760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• Silhouette alto ≠ clustering correcto (puede fallar con DBSCAN vs K-Means)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743200"/>
            <a:ext cx="4251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743200"/>
            <a:ext cx="425196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279806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 Visualización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246120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• Usar t-SNE para preprocesar → distorsión no lineal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760" y="3794760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• Interpretar distancias entre clusters en t-SNE como reales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6817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✅  Solución universal: usar ≥ 2 métricas + validación con experto de dominio + estabilidad (múltiples semillas)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Decisión: ¿Qué Algoritmo Usar?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97764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Pregunta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Respuesta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→ Algoritmo recomendado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¿Conozco k?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Sí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K-Means / GMM / K-Medoids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¿Hay outliers importantes?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Sí (son anomalías)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DBSCAN / HDBSCAN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¿Clusters convexos y limpios?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Sí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K-Means (rápido)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¿Necesito probabilidades?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Sí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GMM (soft assignment)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¿Clusters con forma irregular?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Sí, sin ruido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Jerárquico Ward / GMM full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¿Quiero explorar topología?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Sí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SOM (U-Matrix)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¿Datos &gt; 100k?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Sí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MiniBatchKMeans / HDBSCAN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¿No sé k ni la forma?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Empezar aquí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K-Means (baseline) + Silhouette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6817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55A64"/>
                </a:solidFill>
              </a:rPr>
              <a:t>Este árbol es una guía, no un oráculo. Siempre validar con métricas y criterio de negocio.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Visual: Los 6 Algoritmos del Módulo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269748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69748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078992"/>
            <a:ext cx="438912" cy="292608"/>
          </a:xfrm>
          <a:prstGeom prst="roundRect">
            <a:avLst>
              <a:gd name="adj" fmla="val 15625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42032" y="10881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0881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K-Means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1600200"/>
            <a:ext cx="2487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Centroides · Elbow · Rápido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69748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005840"/>
            <a:ext cx="2697480" cy="47548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1078992"/>
            <a:ext cx="438912" cy="292608"/>
          </a:xfrm>
          <a:prstGeom prst="roundRect">
            <a:avLst>
              <a:gd name="adj" fmla="val 15625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22392" y="10881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55848" y="10881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K-Medoids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55848" y="1600200"/>
            <a:ext cx="2487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PAM · Outlier-robusto · Real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69748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7B1FA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005840"/>
            <a:ext cx="2697480" cy="47548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1078992"/>
            <a:ext cx="438912" cy="292608"/>
          </a:xfrm>
          <a:prstGeom prst="roundRect">
            <a:avLst>
              <a:gd name="adj" fmla="val 15625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2752" y="10881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36208" y="10881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Jerárquico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36208" y="1600200"/>
            <a:ext cx="2487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Ward · Dendrograma · sin 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017520"/>
            <a:ext cx="269748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017520"/>
            <a:ext cx="2697480" cy="47548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3090672"/>
            <a:ext cx="438912" cy="292608"/>
          </a:xfrm>
          <a:prstGeom prst="roundRect">
            <a:avLst>
              <a:gd name="adj" fmla="val 15625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42032" y="3099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" y="309981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DBSCAN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5488" y="3611880"/>
            <a:ext cx="2487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Densidad · Ruido · sin 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46120" y="3017520"/>
            <a:ext cx="269748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6120" y="3017520"/>
            <a:ext cx="269748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40680" y="3090672"/>
            <a:ext cx="438912" cy="292608"/>
          </a:xfrm>
          <a:prstGeom prst="roundRect">
            <a:avLst>
              <a:gd name="adj" fmla="val 15625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22392" y="3099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55848" y="309981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GMM (EM)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355848" y="3611880"/>
            <a:ext cx="2487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Probabilístico · BIC/AIC · Soft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26480" y="3017520"/>
            <a:ext cx="269748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880E4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3017520"/>
            <a:ext cx="2697480" cy="475488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1040" y="3090672"/>
            <a:ext cx="438912" cy="292608"/>
          </a:xfrm>
          <a:prstGeom prst="roundRect">
            <a:avLst>
              <a:gd name="adj" fmla="val 15625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02752" y="3099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36208" y="309981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Kohonen SOM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236208" y="3611880"/>
            <a:ext cx="2487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Topológico · U-Matrix · Viz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Módulo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0B0C8"/>
                </a:solidFill>
              </a:rPr>
              <a:t>"El mejor clustering no es el que tiene el Silhouette más alto,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1" dirty="0">
                <a:solidFill>
                  <a:srgbClr val="00B0C8"/>
                </a:solidFill>
              </a:rPr>
              <a:t>sino el que lleva a las mejores decisiones de negocio."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57860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→  Módulo siguiente: Detección de anomalías (Isolation Forest, LOF, Autoencoders)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14553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→  Aplicar pipeline RFM+ a datos propios o de empresa (entrega final)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71246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→  Recursos: ESL Cap. 14 · Bishop Cap. 9 · scikit-learn docs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4407408"/>
            <a:ext cx="804672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B0C8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4805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0C8"/>
                </a:solidFill>
              </a:rPr>
              <a:t>Máster en Ciencia de Datos  ·  Módulo Clustering  ·  10 horas  ·  9 guiones + 10 notebooks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A64"/>
                </a:solidFill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Clustering Sesión 2</dc:title>
  <dc:subject>PptxGenJS Presentation</dc:subject>
  <dc:creator>Máster Ciencia de Datos</dc:creator>
  <cp:lastModifiedBy>Máster Ciencia de Datos</cp:lastModifiedBy>
  <cp:revision>1</cp:revision>
  <dcterms:created xsi:type="dcterms:W3CDTF">2026-02-26T13:40:24Z</dcterms:created>
  <dcterms:modified xsi:type="dcterms:W3CDTF">2026-02-26T13:40:24Z</dcterms:modified>
</cp:coreProperties>
</file>